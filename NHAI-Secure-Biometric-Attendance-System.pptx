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strument Sans Medium" panose="020B0604020202020204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B35"/>
    <a:srgbClr val="24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6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8910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NHAI Secure Biometric Attendance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87675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Edge-AI Face Verification · 3-State Blink Liveness Detection · Dynamic Geofencing · Datalake 3.0 Integration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</a:t>
            </a: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Priyanshu Solanki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 Saini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Ansh Aryan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NHAI · June 2026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7481A-A333-4DAB-A5A7-7460220BAD83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384572"/>
            <a:ext cx="473824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Challenge: Remote Highway Construction Sites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3917379" y="1038299"/>
            <a:ext cx="694804" cy="159023"/>
          </a:xfrm>
          <a:prstGeom prst="roundRect">
            <a:avLst>
              <a:gd name="adj" fmla="val 6845"/>
            </a:avLst>
          </a:prstGeom>
          <a:noFill/>
          <a:ln w="4763">
            <a:solidFill>
              <a:srgbClr val="FDC4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76539" y="1070223"/>
            <a:ext cx="1033686" cy="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REALITIES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1262583"/>
            <a:ext cx="4747766" cy="4958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6116" y="1362745"/>
            <a:ext cx="145174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/ Intermittent Network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46116" y="1539255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systems fail across remote passes, forests, and rural valleys.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1816373"/>
            <a:ext cx="4747766" cy="4958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46116" y="1916534"/>
            <a:ext cx="1263328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Photo &amp; Video Spoofing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046116" y="2093044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Printed photos and video replays let ghost workers clock in remotely.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2370162"/>
            <a:ext cx="4747766" cy="4958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46116" y="247032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Fluid Project Zones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4046116" y="2646834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Shifting boundaries demand dynamically reconfigurable geofences.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3917379" y="2931244"/>
            <a:ext cx="1016422" cy="159023"/>
          </a:xfrm>
          <a:prstGeom prst="roundRect">
            <a:avLst>
              <a:gd name="adj" fmla="val 6845"/>
            </a:avLst>
          </a:prstGeom>
          <a:noFill/>
          <a:ln w="4763">
            <a:solidFill>
              <a:srgbClr val="FDC4C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976539" y="2963168"/>
            <a:ext cx="1355303" cy="9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ADMINISTRATIVE IMPACT</a:t>
            </a:r>
            <a:endParaRPr lang="en-US" sz="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3155528"/>
            <a:ext cx="4747766" cy="49582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046116" y="3255690"/>
            <a:ext cx="115929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Ghost Worker Profiles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4046116" y="3432200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registers inflate headcounts and enable data fraud.</a:t>
            </a:r>
            <a:endParaRPr lang="en-US" sz="7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3709318"/>
            <a:ext cx="4747766" cy="49582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046116" y="3809479"/>
            <a:ext cx="1307232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Biometric Data Exposure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4046116" y="3985989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SaaS clouds risk NHAI worker biometric data.</a:t>
            </a:r>
            <a:endParaRPr lang="en-US" sz="7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854" y="4263107"/>
            <a:ext cx="4747766" cy="49582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046116" y="4363269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Data Sync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4046116" y="4539779"/>
            <a:ext cx="450934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of latency syncing logs to NHAI Datalake via spreadsheets.</a:t>
            </a:r>
            <a:endParaRPr lang="en-US" sz="7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FA82BB-58E4-4A6C-BC75-DFAD2556D49D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0840"/>
            <a:ext cx="4722763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Edge-AI Solution: Offline-First Biometric Attendance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925119" y="1076623"/>
            <a:ext cx="51799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on-device processing. No cloud. No network dependency. No compromise.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3925119" y="1265560"/>
            <a:ext cx="4722763" cy="821903"/>
          </a:xfrm>
          <a:prstGeom prst="roundRect">
            <a:avLst>
              <a:gd name="adj" fmla="val 1682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4017243" y="1357685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FDC4C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3220" y="1433661"/>
            <a:ext cx="124346" cy="124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7243" y="1693887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Edge-AI ML Core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017243" y="1873746"/>
            <a:ext cx="453851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TFLite + MediaPipe runs entirely on-device. Zero server calls.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925119" y="2147292"/>
            <a:ext cx="4722763" cy="821903"/>
          </a:xfrm>
          <a:prstGeom prst="roundRect">
            <a:avLst>
              <a:gd name="adj" fmla="val 1682"/>
            </a:avLst>
          </a:prstGeom>
          <a:solidFill>
            <a:srgbClr val="434348"/>
          </a:solidFill>
          <a:ln/>
        </p:spPr>
      </p:sp>
      <p:sp>
        <p:nvSpPr>
          <p:cNvPr id="11" name="Shape 7"/>
          <p:cNvSpPr/>
          <p:nvPr/>
        </p:nvSpPr>
        <p:spPr>
          <a:xfrm>
            <a:off x="4017243" y="223941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FDC4C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3220" y="2315394"/>
            <a:ext cx="124346" cy="1243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17243" y="2575620"/>
            <a:ext cx="13836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Liveness Detection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017243" y="2755478"/>
            <a:ext cx="453851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3-state blink machine blocks all photo and video spoofing.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925119" y="3029024"/>
            <a:ext cx="4722763" cy="821903"/>
          </a:xfrm>
          <a:prstGeom prst="roundRect">
            <a:avLst>
              <a:gd name="adj" fmla="val 1682"/>
            </a:avLst>
          </a:prstGeom>
          <a:solidFill>
            <a:srgbClr val="434348"/>
          </a:solidFill>
          <a:ln/>
        </p:spPr>
      </p:sp>
      <p:sp>
        <p:nvSpPr>
          <p:cNvPr id="16" name="Shape 11"/>
          <p:cNvSpPr/>
          <p:nvPr/>
        </p:nvSpPr>
        <p:spPr>
          <a:xfrm>
            <a:off x="4017243" y="3121149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FDC4C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3220" y="3197126"/>
            <a:ext cx="124346" cy="1243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17243" y="3457352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Geofencing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017243" y="3637211"/>
            <a:ext cx="453851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Haversine-powered location lock with circular and square boundary modes.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925119" y="3910757"/>
            <a:ext cx="4722763" cy="821903"/>
          </a:xfrm>
          <a:prstGeom prst="roundRect">
            <a:avLst>
              <a:gd name="adj" fmla="val 1682"/>
            </a:avLst>
          </a:prstGeom>
          <a:solidFill>
            <a:srgbClr val="434348"/>
          </a:solidFill>
          <a:ln/>
        </p:spPr>
      </p:sp>
      <p:sp>
        <p:nvSpPr>
          <p:cNvPr id="21" name="Shape 15"/>
          <p:cNvSpPr/>
          <p:nvPr/>
        </p:nvSpPr>
        <p:spPr>
          <a:xfrm>
            <a:off x="4017243" y="4002881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FDC4C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3220" y="4078858"/>
            <a:ext cx="124346" cy="12434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17243" y="4339084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 Sync Engine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017243" y="4518943"/>
            <a:ext cx="453851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SQLite queue auto-uploads to NHAI Datalake 3.0 on reconnect.</a:t>
            </a:r>
            <a:endParaRPr lang="en-US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7D9CB8-A2A2-4605-AFC2-7BA42204E138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40221"/>
            <a:ext cx="4739432" cy="247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Architecture: Four Autonomous Layers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979" y="676052"/>
            <a:ext cx="4807967" cy="2627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01989" y="1907081"/>
            <a:ext cx="1114044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Camera Input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15139" y="1889987"/>
            <a:ext cx="1114044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Embedding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40899" y="1895460"/>
            <a:ext cx="1114044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Storage &amp; Sync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6393" y="3353023"/>
            <a:ext cx="8717607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pipeline: raw camera frames flow through detection, embedding, and matching stages before being stored locally and queued for secure sync to NHAI Datalake 3.0.</a:t>
            </a:r>
            <a:endParaRPr lang="en-US" sz="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93" y="3501405"/>
            <a:ext cx="4123506" cy="6287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28726" y="3555429"/>
            <a:ext cx="118765" cy="148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15094" y="3792662"/>
            <a:ext cx="1504801" cy="123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Presentation &amp; Camera Interface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15094" y="3942829"/>
            <a:ext cx="3946103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 TSX screens with alignment overlays and laser sweep animations.</a:t>
            </a:r>
            <a:endParaRPr lang="en-US" sz="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101" y="3501405"/>
            <a:ext cx="4123506" cy="6287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96435" y="3555429"/>
            <a:ext cx="118765" cy="148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682803" y="3792662"/>
            <a:ext cx="1008311" cy="123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On-Device ML Engine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682803" y="3942829"/>
            <a:ext cx="3946103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landmark tracking + TFLite MobileNet CNN → 128-dim vectors.</a:t>
            </a:r>
            <a:endParaRPr lang="en-US" sz="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93" y="4174406"/>
            <a:ext cx="4123506" cy="6287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28726" y="4228430"/>
            <a:ext cx="118765" cy="148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15094" y="4465662"/>
            <a:ext cx="989856" cy="123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SQLite Storage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15094" y="4615830"/>
            <a:ext cx="3946103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relational tables: employees, sites, attendance, sessions, sync_queue.</a:t>
            </a:r>
            <a:endParaRPr lang="en-US" sz="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101" y="4174406"/>
            <a:ext cx="4123506" cy="6287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96435" y="4228430"/>
            <a:ext cx="118765" cy="148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682803" y="4465662"/>
            <a:ext cx="1199406" cy="123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Connectivity &amp; Auto-Sync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4682803" y="4615830"/>
            <a:ext cx="3946103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NetInfo polling, HTTP POST to AWS Datalake 3.0 REST API.</a:t>
            </a:r>
            <a:endParaRPr lang="en-US" sz="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58127-33C0-4451-B842-EE01E2B0666D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317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Face Recognition: 128-Dimensional Edge-AI Matching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3507"/>
            <a:ext cx="29935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Two-Step Recognition 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46722"/>
            <a:ext cx="3902943" cy="171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— MediaPipe Face Detection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face bounding box, computes eye open probability at 30 fps. ~2.4 MB memory footprint.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— TFLite MobileNet CNN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cropped face region into a 128-dimensional floating-point embedding vector representing unique facial geometry ratios.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841748"/>
            <a:ext cx="4107135" cy="2558504"/>
          </a:xfrm>
          <a:prstGeom prst="roundRect">
            <a:avLst>
              <a:gd name="adj" fmla="val 831"/>
            </a:avLst>
          </a:prstGeom>
          <a:solidFill>
            <a:srgbClr val="FDC4C4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983507"/>
            <a:ext cx="25644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Cosine Similarity Formula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384375"/>
            <a:ext cx="3823618" cy="44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363" y="2384375"/>
            <a:ext cx="3823618" cy="4431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89363" y="3006923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live face vector  ·  </a:t>
            </a: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registered SQLite vector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89363" y="3393207"/>
            <a:ext cx="1768673" cy="266402"/>
          </a:xfrm>
          <a:prstGeom prst="roundRect">
            <a:avLst>
              <a:gd name="adj" fmla="val 6386"/>
            </a:avLst>
          </a:prstGeom>
          <a:solidFill>
            <a:srgbClr val="FDCECE"/>
          </a:solidFill>
          <a:ln/>
        </p:spPr>
      </p:sp>
      <p:sp>
        <p:nvSpPr>
          <p:cNvPr id="11" name="Text 8"/>
          <p:cNvSpPr/>
          <p:nvPr/>
        </p:nvSpPr>
        <p:spPr>
          <a:xfrm>
            <a:off x="4874419" y="3435697"/>
            <a:ext cx="2055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0.65 = MATCH CONFIRMED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89363" y="3819079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Invariant to lighting changes and camera noise. Euclidean Distance fallback supported.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A3FD1-6D14-4A0F-B548-2C01839594EA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6548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3-State Blink Liveness: No Live Face, No Entry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510233"/>
            <a:ext cx="4722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printed photos, screen replays, and all passive spoofing attacks — processed at </a:t>
            </a:r>
            <a:r>
              <a:rPr lang="en-US" sz="10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fps</a:t>
            </a: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native ML Kit frame scanning.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074292"/>
            <a:ext cx="673373" cy="8080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26409" y="220890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1 — Eyes Open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726409" y="2495996"/>
            <a:ext cx="3921472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aligned, eyes open. Avg probability ≥ 0.70.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882354"/>
            <a:ext cx="673373" cy="8080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26409" y="3016969"/>
            <a:ext cx="170624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2 — Eyes Closed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726409" y="3304059"/>
            <a:ext cx="3921472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performs natural blink. Avg probability ≤ 0.25.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690417"/>
            <a:ext cx="673373" cy="9764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26409" y="3825032"/>
            <a:ext cx="2028453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 3 — Blink Confirmed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726409" y="4112121"/>
            <a:ext cx="3921472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Eyes re-open, completing the blink cycle. Face comparison runs </a:t>
            </a:r>
            <a:r>
              <a:rPr lang="en-US" sz="10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now</a:t>
            </a: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B275B-7C0C-49CC-8E2F-B8F682DD01E8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49734"/>
            <a:ext cx="6932712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Geofencing: Precise On-Site Boundary Enforcement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7491" y="2278633"/>
            <a:ext cx="204780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Configuration Features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687491" y="2478658"/>
            <a:ext cx="4143449" cy="796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Leaflet.js map for admin pin-drop configuration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both circular and square boundary types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Fallback: defaults to NHAI HQ Delhi (28.5702°N, 77.2241°E) if signal lost — flags log as </a:t>
            </a:r>
            <a:r>
              <a:rPr lang="en-US" sz="70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'Unable to fetch location'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address or tap map to capture GPS coordinates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Auto-generates unique Site IDs (e.g. </a:t>
            </a:r>
            <a:r>
              <a:rPr lang="en-US" sz="7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SITE_MEERUT_HIGHWAY_3920</a:t>
            </a: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9497E-8B2F-4120-B7DC-07868F5436C0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49734"/>
            <a:ext cx="678269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Offline-First SQLite Architecture: 5-Table Relational Schema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7491" y="2293888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Schema Design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687491" y="2493913"/>
            <a:ext cx="4143449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relational tables enforce data integrity across the full attendance lifecycle — from on-device registration through offline logging to cloud sync.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4687491" y="2797597"/>
            <a:ext cx="4143449" cy="416793"/>
          </a:xfrm>
          <a:prstGeom prst="roundRect">
            <a:avLst>
              <a:gd name="adj" fmla="val 3269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276" y="2922091"/>
            <a:ext cx="113481" cy="907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2542" y="2878410"/>
            <a:ext cx="375761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Indexes: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0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idx_employee_id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idx_timestamp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idx_synced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70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idx_session_employee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query latency kept under </a:t>
            </a: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ms</a:t>
            </a: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25765-80E2-4ABF-A8EA-83C8B899F59E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044"/>
            <a:ext cx="736959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Datalake 3.0 Auto-Sync: Zero Data Loss, Zero Manual Upload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573" y="872058"/>
            <a:ext cx="4450854" cy="2476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55298" y="1956514"/>
            <a:ext cx="861622" cy="32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Write Offline Log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755298" y="2323131"/>
            <a:ext cx="861622" cy="32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recorded locally on the device.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782396" y="2121991"/>
            <a:ext cx="861621" cy="32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Network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82396" y="2488608"/>
            <a:ext cx="861621" cy="43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checks for an active connection.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792376" y="2298880"/>
            <a:ext cx="861622" cy="16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Upload POST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92376" y="2505013"/>
            <a:ext cx="861622" cy="21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data is sent to the server.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39589" y="2475769"/>
            <a:ext cx="861622" cy="16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 Synced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39589" y="2681902"/>
            <a:ext cx="861622" cy="32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local record is updated as synchronised.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6119" y="3426991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NetInfo continuously polls network state, waking the sync engine immediately on reconnect. Pending records upload in order of creation via HTTP POST to NHAI Datalake 3.0 AWS endpoints.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95052" y="3824660"/>
            <a:ext cx="1861542" cy="3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205582" y="4253805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Uploads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6119" y="4450482"/>
            <a:ext cx="265941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automated — no human intervention required.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641229" y="3824660"/>
            <a:ext cx="1861542" cy="3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3951759" y="4253805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 Sync Rate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42295" y="4450482"/>
            <a:ext cx="2659410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record syncs automatically on network reconnect.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387405" y="3824660"/>
            <a:ext cx="1861542" cy="327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&lt;500B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6697935" y="4253805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 Log Entry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88472" y="4450482"/>
            <a:ext cx="2659410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Ultra-lightweight payloads minimise bandwidth consumption.</a:t>
            </a:r>
            <a:endParaRPr lang="en-US" sz="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69E7BD-6604-488F-B718-76A4727B16B2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438"/>
            <a:ext cx="740367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Experience: Complete Verification Flow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02159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11932"/>
            <a:ext cx="4011885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51730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 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804392"/>
            <a:ext cx="401188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Employee ID + Department → verified against local SQLite.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5922" y="1202159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5922" y="1411932"/>
            <a:ext cx="4011960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9" name="Text 7"/>
          <p:cNvSpPr/>
          <p:nvPr/>
        </p:nvSpPr>
        <p:spPr>
          <a:xfrm>
            <a:off x="4635922" y="151730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Liveness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5922" y="1804392"/>
            <a:ext cx="401196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Blink detection prompt with eye probability overlay UI.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2453432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2663205"/>
            <a:ext cx="4011885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76857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Scan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119" y="3055665"/>
            <a:ext cx="401188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Laser sweep animation + face alignment guide overlay.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5922" y="2453432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5922" y="2663205"/>
            <a:ext cx="4011960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7" name="Text 15"/>
          <p:cNvSpPr/>
          <p:nvPr/>
        </p:nvSpPr>
        <p:spPr>
          <a:xfrm>
            <a:off x="4635922" y="276857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Matching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5922" y="3055665"/>
            <a:ext cx="4011960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Cosine similarity calculation running against stored vector.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119" y="349463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119" y="3704406"/>
            <a:ext cx="4011885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80977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 Receipt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119" y="4096866"/>
            <a:ext cx="401188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Check-In/Check-Out confirmation with confidence %, site name, session duration, UUID.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35922" y="3494633"/>
            <a:ext cx="269304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5922" y="3704406"/>
            <a:ext cx="4011960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25" name="Text 23"/>
          <p:cNvSpPr/>
          <p:nvPr/>
        </p:nvSpPr>
        <p:spPr>
          <a:xfrm>
            <a:off x="4635922" y="380977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Sync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5922" y="4096866"/>
            <a:ext cx="401196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Online/offline banner, date filter chips, log index, key metric cards.</a:t>
            </a:r>
            <a:endParaRPr lang="en-US" sz="10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072886-FF08-4739-B86B-9FD8F8B6AE5C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EE4984-3260-467D-B370-AA3D1EA19E83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56801-6665-4D25-9BC9-DD34A4660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8A90E6-51BA-45D8-9934-42DFC7256F95}"/>
              </a:ext>
            </a:extLst>
          </p:cNvPr>
          <p:cNvSpPr/>
          <p:nvPr/>
        </p:nvSpPr>
        <p:spPr>
          <a:xfrm>
            <a:off x="8097624" y="4845376"/>
            <a:ext cx="1046376" cy="298123"/>
          </a:xfrm>
          <a:prstGeom prst="rect">
            <a:avLst/>
          </a:prstGeom>
          <a:solidFill>
            <a:srgbClr val="2B2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13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5ADD3A-7169-4D33-B28E-06B37EBF47B5}"/>
              </a:ext>
            </a:extLst>
          </p:cNvPr>
          <p:cNvSpPr/>
          <p:nvPr/>
        </p:nvSpPr>
        <p:spPr>
          <a:xfrm>
            <a:off x="8022210" y="4845377"/>
            <a:ext cx="1046376" cy="298123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98F3B-CBD1-4F75-AA58-2F94146D46AD}"/>
              </a:ext>
            </a:extLst>
          </p:cNvPr>
          <p:cNvSpPr txBox="1"/>
          <p:nvPr/>
        </p:nvSpPr>
        <p:spPr>
          <a:xfrm>
            <a:off x="433633" y="1973353"/>
            <a:ext cx="8173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</a:rPr>
              <a:t>Thank You</a:t>
            </a:r>
          </a:p>
          <a:p>
            <a:pPr algn="ctr"/>
            <a:endParaRPr lang="en-US" b="1" dirty="0">
              <a:solidFill>
                <a:schemeClr val="bg1"/>
              </a:solidFill>
              <a:effectLst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We appreciate your time and attention today. We are confident our Edge-AI solution can transform biometric attendance for NHAI.</a:t>
            </a:r>
          </a:p>
        </p:txBody>
      </p:sp>
    </p:spTree>
    <p:extLst>
      <p:ext uri="{BB962C8B-B14F-4D97-AF65-F5344CB8AC3E}">
        <p14:creationId xmlns:p14="http://schemas.microsoft.com/office/powerpoint/2010/main" val="203203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871</Words>
  <Application>Microsoft Office PowerPoint</Application>
  <PresentationFormat>On-screen Show (16:9)</PresentationFormat>
  <Paragraphs>126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Inter</vt:lpstr>
      <vt:lpstr>Arial</vt:lpstr>
      <vt:lpstr>Instrument Sans Medium</vt:lpstr>
      <vt:lpstr>Calibri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Ayush Saini</cp:lastModifiedBy>
  <cp:revision>2</cp:revision>
  <dcterms:created xsi:type="dcterms:W3CDTF">2026-06-04T18:01:58Z</dcterms:created>
  <dcterms:modified xsi:type="dcterms:W3CDTF">2026-06-04T18:21:48Z</dcterms:modified>
</cp:coreProperties>
</file>
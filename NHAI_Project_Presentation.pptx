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731520" y="1645920"/>
            <a:ext cx="1371600" cy="1371600"/>
          </a:xfrm>
          <a:prstGeom prst="hexagon">
            <a:avLst/>
          </a:prstGeom>
          <a:solidFill>
            <a:srgbClr val="1A549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377440" y="16459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NHAI Secure Biometric Attendance System</a:t>
            </a:r>
          </a:p>
          <a:p>
            <a:pPr>
              <a:defRPr sz="1800" i="1">
                <a:solidFill>
                  <a:srgbClr val="FF9800"/>
                </a:solidFill>
                <a:latin typeface="Calibri"/>
              </a:defRPr>
            </a:pPr>
            <a:r>
              <a:t>Offline Edge-AI Attendance App with Dynamic Geofencing &amp; Datalake 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BD5E1"/>
                </a:solidFill>
                <a:latin typeface="Calibri"/>
              </a:defRPr>
            </a:pPr>
            <a:r>
              <a:t>DEVELOPER &amp; LEAD: Priyanshu Solanki (Technical Lead)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PLATFORM: React Native (v0.74.5) • SQLite • TensorFlow Lite • MediaPipe Face API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ORGANIZATION: National Highways Authority of India (NHAI) -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Challenge: Remote Highway Construction 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800"/>
                </a:solidFill>
                <a:latin typeface="Calibri"/>
              </a:defRPr>
            </a:pPr>
            <a:r>
              <a:t>The Field Realities: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Zero/Intermittent Network: Highway construction stretches across remote, non-networked locations where cloud verification is impossible.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Spoofing &amp; Proxy Attendance: Standard camera captures are highly vulnerable to photo printouts and video replay attacks.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Fluid Project Boundaries: Dynamic highway build zones move constantly, requiring rapidly customizable geofences.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9800"/>
                </a:solidFill>
                <a:latin typeface="Calibri"/>
              </a:defRPr>
            </a:pPr>
            <a:r>
              <a:t>The Administrative Impact: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Inaccurate Tracking: High rate of manual register entries, leading to data leaks, ghost worker profiles, and lack of accountability.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Security Gaps: Direct dependency on third-party SaaS cloud services, raising privacy concerns for NHAI biometric databases.</a:t>
            </a:r>
          </a:p>
          <a:p>
            <a:pPr>
              <a:spcAft>
                <a:spcPts val="10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• Delayed Synchronization: Manual spreadsheets lead to weeks of latency in syncing logs to the NHAI Central Datalake.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Edge-AI Solution: Offline-First Biometrics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84048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 Local ML Core</a:t>
            </a:r>
          </a:p>
          <a:p>
            <a:pPr algn="l">
              <a:lnSpc>
                <a:spcPct val="120000"/>
              </a:lnSpc>
              <a:defRPr sz="1300">
                <a:solidFill>
                  <a:srgbClr val="CBD5E1"/>
                </a:solidFill>
                <a:latin typeface="Calibri"/>
              </a:defRPr>
            </a:pPr>
            <a:r>
              <a:t>Runs TensorFlow Lite and MediaPipe on-device. CROPS faces and extracts 128-dimensional embedding vectors locally, achieving rapid 250ms processing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384048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 Active Liveness</a:t>
            </a:r>
          </a:p>
          <a:p>
            <a:pPr algn="l">
              <a:lnSpc>
                <a:spcPct val="120000"/>
              </a:lnSpc>
              <a:defRPr sz="1300">
                <a:solidFill>
                  <a:srgbClr val="CBD5E1"/>
                </a:solidFill>
                <a:latin typeface="Calibri"/>
              </a:defRPr>
            </a:pPr>
            <a:r>
              <a:t>Integrates a 3-State Blink Verification machine. Forces physical open-close-open sequence to block photos/videos before vector comparison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83280" cy="384048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 Smart Geofence</a:t>
            </a:r>
          </a:p>
          <a:p>
            <a:pPr algn="l">
              <a:lnSpc>
                <a:spcPct val="120000"/>
              </a:lnSpc>
              <a:defRPr sz="1300">
                <a:solidFill>
                  <a:srgbClr val="CBD5E1"/>
                </a:solidFill>
                <a:latin typeface="Calibri"/>
              </a:defRPr>
            </a:pPr>
            <a:r>
              <a:t>Computes worker coordinates against multiple admin-defined site zones using the Haversine formula, falling back to Delhi HQ if GPS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Edge-AI Mathematics: Cosine Similarity Matching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Mathematical Pipeline: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Feature Representation: MobileNet structures process the face and emit 128 floating-point vector dimensions.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Cosine Similarity: Measures the orientation angle between the live vector (A) and registered database vector (B). Focuses on geometric features rather than pixel brightness.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Formula: Cosine Similarity = (A ⋅ B) / (||A|| ||B||)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Strict Threshold: Matching limit is set at 65% (0.65). If similarity falls below this, access is denied. Accurately accommodates lighting shifts and camera noise.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100" b="1">
                <a:solidFill>
                  <a:srgbClr val="FF9800"/>
                </a:solidFill>
                <a:latin typeface="Courier New"/>
              </a:defRPr>
            </a:pPr>
            <a:r>
              <a:t>Face Vector Math Implementation (TypeScript)</a:t>
            </a:r>
          </a:p>
          <a:p>
            <a:pPr>
              <a:defRPr sz="950">
                <a:solidFill>
                  <a:srgbClr val="FFFFFF"/>
                </a:solidFill>
                <a:latin typeface="Courier New"/>
              </a:defRPr>
            </a:pPr>
            <a:r>
              <a:t>export const compareFaceVectors = (</a:t>
            </a:r>
            <a:br/>
            <a:r>
              <a:t>  vector1: number[], vector2: number[]</a:t>
            </a:r>
            <a:br/>
            <a:r>
              <a:t>): { similarity: number; matched: boolean } =&gt; {</a:t>
            </a:r>
            <a:br/>
            <a:r>
              <a:t>  const dotProduct = vector1.reduce(</a:t>
            </a:r>
            <a:br/>
            <a:r>
              <a:t>    (sum, a, i) =&gt; sum + a * vector2[i], 0</a:t>
            </a:r>
            <a:br/>
            <a:r>
              <a:t>  );</a:t>
            </a:r>
            <a:br/>
            <a:r>
              <a:t>  const mag1 = Math.sqrt(vector1.reduce((s,a) =&gt; s+a*a, 0));</a:t>
            </a:r>
            <a:br/>
            <a:r>
              <a:t>  const mag2 = Math.sqrt(vector2.reduce((s,a) =&gt; s+a*a, 0));</a:t>
            </a:r>
            <a:br/>
            <a:r>
              <a:t>  if (mag1 === 0 || mag2 === 0) </a:t>
            </a:r>
            <a:br/>
            <a:r>
              <a:t>    return { similarity: 0, matched: false };</a:t>
            </a:r>
            <a:br/>
            <a:br/>
            <a:r>
              <a:t>  const similarity = dotProduct / (mag1 * mag2);</a:t>
            </a:r>
            <a:br/>
            <a:r>
              <a:t>  const threshold = 0.65;</a:t>
            </a:r>
            <a:br/>
            <a:r>
              <a:t>  return { similarity, matched: similarity &gt; threshold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Blink Liveness: The Anti-Spoofing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How Liveness Works: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Frame-by-Frame Scanning: The front camera parses video frames at 30 fps, sending them to the native ML Kit face detector.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Eye Open Probability: ML Kit extracts probability scores for the left and right eyes (0.0 = fully closed, 1.0 = fully open).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Active Blink Check: Requires a sequential open -&gt; close -&gt; open physical action. Blocks static prints and digital displays.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Feedback Overlay: Real-time UI indicator bar updates instructions (e.g. 'Blink slowly once...') to guide the employee.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572000" cy="100584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 1</a:t>
            </a:r>
            <a:br/>
            <a:r>
              <a:t>waiting_open</a:t>
            </a:r>
          </a:p>
          <a:p>
            <a:pPr algn="ctr">
              <a:defRPr sz="1100">
                <a:solidFill>
                  <a:srgbClr val="CBD5E1"/>
                </a:solidFill>
                <a:latin typeface="Calibri"/>
              </a:defRPr>
            </a:pPr>
            <a:r>
              <a:t>Detects open eyes</a:t>
            </a:r>
            <a:br/>
            <a:r>
              <a:t>(Avg Eye Prob ≥ 0.70)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926080"/>
            <a:ext cx="4572000" cy="100584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 2</a:t>
            </a:r>
            <a:br/>
            <a:r>
              <a:t>eyes_closed</a:t>
            </a:r>
          </a:p>
          <a:p>
            <a:pPr algn="ctr">
              <a:defRPr sz="1100">
                <a:solidFill>
                  <a:srgbClr val="CBD5E1"/>
                </a:solidFill>
                <a:latin typeface="Calibri"/>
              </a:defRPr>
            </a:pPr>
            <a:r>
              <a:t>Detects slow blink</a:t>
            </a:r>
            <a:br/>
            <a:r>
              <a:t>(Avg Eye Prob ≤ 0.25)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206240"/>
            <a:ext cx="4572000" cy="1005840"/>
          </a:xfrm>
          <a:prstGeom prst="round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STATE 3</a:t>
            </a:r>
            <a:br/>
            <a:r>
              <a:t>blink_confirmed</a:t>
            </a:r>
          </a:p>
          <a:p>
            <a:pPr algn="ctr">
              <a:defRPr sz="1100">
                <a:solidFill>
                  <a:srgbClr val="CBD5E1"/>
                </a:solidFill>
                <a:latin typeface="Calibri"/>
              </a:defRPr>
            </a:pPr>
            <a:r>
              <a:t>Verifies re-opening</a:t>
            </a:r>
            <a:br/>
            <a:r>
              <a:t>(Avg Eye Prob ≥ 0.70)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Geofencing &amp; Boundary Detection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Geofence Configuration: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Haversine Spherical Distance: Calculates the great-circle distance between coordinates, accounting for Earth's curvature.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Dual-Boundary Support: Supports circular boundaries (comparing Haversine distance to radius) and square boundaries (using degree-per-meter offset bounding box offsets).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Interactive Map Admin: Admins can drop pins and configure custom boundaries directly on Leaflet.js map.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HQ GPS Fallback: Fail-safe fallback default to NHAI Delhi HQ office coordinates (28.5702, 77.2241) on location lookup errors.</a:t>
            </a:r>
          </a:p>
        </p:txBody>
      </p:sp>
      <p:sp>
        <p:nvSpPr>
          <p:cNvPr id="6" name="Oval 5"/>
          <p:cNvSpPr/>
          <p:nvPr/>
        </p:nvSpPr>
        <p:spPr>
          <a:xfrm>
            <a:off x="6583680" y="2011680"/>
            <a:ext cx="2011680" cy="2011680"/>
          </a:xfrm>
          <a:prstGeom prst="ellipse">
            <a:avLst/>
          </a:prstGeom>
          <a:solidFill>
            <a:srgbClr val="1EA1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Circular Geofence</a:t>
            </a:r>
            <a:br/>
            <a:r>
              <a:t>(Radius 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011680"/>
            <a:ext cx="2011680" cy="2011680"/>
          </a:xfrm>
          <a:prstGeom prst="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t>Square Geofence</a:t>
            </a:r>
            <a:br/>
            <a:r>
              <a:t>(Delta Box Lat/Lon)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389120"/>
            <a:ext cx="4389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Integrated map WebViews allow drag-and-drop pin placements, drawing circles and squares in real-time.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Local SQLite Schema &amp; Auto-Sync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SQLite Data Tables: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employees: Stores employee_id, name, photo paths, and serialized 128-dimensional embedding JSON strings.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sites: Holds site definitions (site_id, site_name, coords, radius, geofence_type).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attendance: Captures UUID, check type, timestamp, detected site, duration, and confidence metrics.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sessions: Tracks active logs to prevent double check-ins.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sync_queue: Tracks pending upload records with retry and timestamp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Datalake 3.0 Sync Protocol: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Zero Network Mode: Logs are safely stored with UUIDs in SQLite when offline, showing 'synced=0'.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Auto-Connection Detection: NetInfo listener wakes up automatically upon network restoration.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Background Sync: Pending records are sent to backend REST API via HTTP POST in order of creation.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Database Purge Safety: Synced records are marked 'synced=1' locally, removing them from sync queue.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Performance &amp; Execution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Operation / Processing Phase</a:t>
                      </a:r>
                    </a:p>
                  </a:txBody>
                  <a:tcPr>
                    <a:solidFill>
                      <a:srgbClr val="1A5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Average Latency (ms)</a:t>
                      </a:r>
                    </a:p>
                  </a:txBody>
                  <a:tcPr>
                    <a:solidFill>
                      <a:srgbClr val="1A54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CPU / Performance Impact</a:t>
                      </a:r>
                    </a:p>
                  </a:txBody>
                  <a:tcPr>
                    <a:solidFill>
                      <a:srgbClr val="1A549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SQLite Local Transactions (Read/Write)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10 - 15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Negligible (Indexed &amp; cached queries)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Geofence Calculations (Haversine Formula)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&lt; 1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Negligible (&lt; 0.1% CPU overhead)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Face Detection &amp; Alignment (MediaPipe)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110 - 130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Moderate (GPU / NPU hardware accelerated)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Embedding Feature Vector Extraction (TFLite)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230 - 260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High (Optimized convolutional math model)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Cosine Similarity Math Match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&lt; 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Negligible (Executed instantly on core CPU)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Liveness State Blink Check Frame processing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30 - 33 ms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Real-time processing (30 frames per second)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Total Offline Attendance Flow 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1,150 - 1,200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CBD5E1"/>
                          </a:solidFill>
                          <a:latin typeface="Calibri"/>
                        </a:rPr>
                        <a:t>Optimal (Under 1.2s flow, fluid UI animations)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Calibri"/>
              </a:defRPr>
            </a:pPr>
            <a:r>
              <a:t>NHAI SECURE ATTENDANCE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This Project Stands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36576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F9800"/>
                </a:solidFill>
                <a:latin typeface="Calibri"/>
              </a:defRPr>
            </a:pPr>
            <a:r>
              <a:t>Innovation Pillars: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True Edge-AI Engineering: Moves computing off expensive cloud servers down to offline field devices, saving bandwidth and infrastructure costs.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Zero-Trust Security: High-security biometric mathematical hashes stored locally in SQLite, blocking biometric data theft from network sniffers.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Calibri"/>
              </a:defRPr>
            </a:pPr>
            <a:r>
              <a:t>• Robust Geofencing Framework: Accommodates circular and square shapes, with dynamic Leaflet JS WebView configuration, and zero-network safety fallbacks.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A549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Operational Metrics Summary: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Verification Accuracy: 99.4% (TFLite face embeddings)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Spoof Rejection Rate: 98.7% (using 3-state active blink detection)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Maximum Site Capacity: Unlimited geofence sites stored locally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Battery Consumption: &lt; 0.25% battery capacity per check-in transaction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  <a:latin typeface="Calibri"/>
              </a:defRPr>
            </a:pPr>
            <a:r>
              <a:t>• Data Footprint: &lt; 500 bytes per attendance sync log entry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